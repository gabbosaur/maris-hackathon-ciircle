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35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2" d="100"/>
          <a:sy n="102" d="100"/>
        </p:scale>
        <p:origin x="108" y="2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50378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[0:00-0:10] Apertura secca.</a:t>
            </a:r>
          </a:p>
          <a:p>
            <a:endParaRPr/>
          </a:p>
          <a:p>
            <a:r>
              <a:t>"Siamo il Team 7. MARIS: un copilota AI per l'ispezione</a:t>
            </a:r>
          </a:p>
          <a:p>
            <a:r>
              <a:t>delle infrastrutture marittime."</a:t>
            </a:r>
          </a:p>
          <a:p>
            <a:endParaRPr/>
          </a:p>
          <a:p>
            <a:r>
              <a:t>Non leggere i nomi uno per uno: sono sulla slide.</a:t>
            </a:r>
          </a:p>
          <a:p>
            <a:r>
              <a:t>Passa subito al problema.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[0:10-0:40] Il problema. Concreto, non generico.</a:t>
            </a:r>
          </a:p>
          <a:p>
            <a:endParaRPr/>
          </a:p>
          <a:p>
            <a:r>
              <a:t>"Le banchine e le dighe liguri si ispezionano con ROV e</a:t>
            </a:r>
          </a:p>
          <a:p>
            <a:r>
              <a:t>sommozzatori. Ogni ispezione produce ore di video che un</a:t>
            </a:r>
          </a:p>
          <a:p>
            <a:r>
              <a:t>tecnico rivede a mano. La valutazione è soggettiva. E</a:t>
            </a:r>
          </a:p>
          <a:p>
            <a:r>
              <a:t>soprattutto: non esiste memoria storica. Nessuno sa se</a:t>
            </a:r>
          </a:p>
          <a:p>
            <a:r>
              <a:t>una lesione è peggiorata rispetto all'anno scorso."</a:t>
            </a:r>
          </a:p>
          <a:p>
            <a:endParaRPr/>
          </a:p>
          <a:p>
            <a:r>
              <a:t>Se hai un dato reale (costo o frequenza ispezioni), dillo qui.</a:t>
            </a:r>
          </a:p>
          <a:p>
            <a:r>
              <a:t>Chiudi con il tocco personale: "sono ligure, questo problema</a:t>
            </a:r>
          </a:p>
          <a:p>
            <a:r>
              <a:t>lo vedo ogni volta che passo in porto".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[0:40-1:00] Architettura. Veloce, non ti perdere qui.</a:t>
            </a:r>
          </a:p>
          <a:p>
            <a:endParaRPr/>
          </a:p>
          <a:p>
            <a:r>
              <a:t>"L'operatore sceglie il tipo di ispezione. Questo carica un</a:t>
            </a:r>
          </a:p>
          <a:p>
            <a:r>
              <a:t>prompt di dominio e una base normativa specifica. Il video</a:t>
            </a:r>
          </a:p>
          <a:p>
            <a:r>
              <a:t>arriva con la telemetria dal log del ROV. Il modello analizza,</a:t>
            </a:r>
          </a:p>
          <a:p>
            <a:r>
              <a:t>e per ogni anomalia produce osservazione, diagnosi e azione."</a:t>
            </a:r>
          </a:p>
          <a:p>
            <a:endParaRPr/>
          </a:p>
          <a:p>
            <a:r>
              <a:t>Il punto da marcare: "non chiediamo a un LLM cosa pensa.</a:t>
            </a:r>
          </a:p>
          <a:p>
            <a:r>
              <a:t>Colleghiamo osservazione visiva e norma tecnica."</a:t>
            </a:r>
          </a:p>
          <a:p>
            <a:endParaRPr/>
          </a:p>
          <a:p>
            <a:r>
              <a:t>Non è detection: quello è risolto e saturo. È comprensione.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[1:00-2:20] LA DEMO. Un terzo del tempo: è ciò che convince.</a:t>
            </a:r>
          </a:p>
          <a:p>
            <a:endParaRPr/>
          </a:p>
          <a:p>
            <a:r>
              <a:t>USA IL VIDEO REGISTRATO, non il live. Con 4 minuti non puoi</a:t>
            </a:r>
          </a:p>
          <a:p>
            <a:r>
              <a:t>rischiare un crash o un caricamento lento.</a:t>
            </a:r>
          </a:p>
          <a:p>
            <a:endParaRPr/>
          </a:p>
          <a:p>
            <a:r>
              <a:t>Commenta mentre scorre, non stare in silenzio:</a:t>
            </a:r>
          </a:p>
          <a:p>
            <a:r>
              <a:t>- "qui seleziona il caso d'uso: cambia il prompt"</a:t>
            </a:r>
          </a:p>
          <a:p>
            <a:r>
              <a:t>- "la telemetria arriva dal log del ROV"</a:t>
            </a:r>
          </a:p>
          <a:p>
            <a:r>
              <a:t>- "le anomalie compaiono man mano"</a:t>
            </a:r>
          </a:p>
          <a:p>
            <a:r>
              <a:t>- "clicco: il video torna sul fotogramma e il riquadro</a:t>
            </a:r>
          </a:p>
          <a:p>
            <a:r>
              <a:t>   circonda l'oggetto"</a:t>
            </a:r>
          </a:p>
          <a:p>
            <a:endParaRPr/>
          </a:p>
          <a:p>
            <a:r>
              <a:t>Poi il momento chiave, rallenta la voce:</a:t>
            </a:r>
          </a:p>
          <a:p>
            <a:r>
              <a:t>"Questa è la parte che conta: il confronto con l'ispezione</a:t>
            </a:r>
          </a:p>
          <a:p>
            <a:r>
              <a:t>precedente. Sei metri di cavo in più scoperti rispetto a</a:t>
            </a:r>
          </a:p>
          <a:p>
            <a:r>
              <a:t>febbraio. Da ispezione isolata a manutenzione predittiva."</a:t>
            </a:r>
          </a:p>
          <a:p>
            <a:endParaRPr/>
          </a:p>
          <a:p>
            <a:r>
              <a:t>ONESTÀ: "i referti in demo sono precaricati, ma l'analisi di</a:t>
            </a:r>
          </a:p>
          <a:p>
            <a:r>
              <a:t>questo video è stata fatta davvero da un VLM con il nostro</a:t>
            </a:r>
          </a:p>
          <a:p>
            <a:r>
              <a:t>prompt." Dillo tu prima che lo chiedano.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[2:20-3:10] Forza e limiti. Qui dimostri maturità.</a:t>
            </a:r>
          </a:p>
          <a:p>
            <a:endParaRPr/>
          </a:p>
          <a:p>
            <a:r>
              <a:t>Sui punti di forza non leggere tutto, scegli tre:</a:t>
            </a:r>
          </a:p>
          <a:p>
            <a:r>
              <a:t>"Non addestriamo niente: usiamo modelli esistenti con un</a:t>
            </a:r>
          </a:p>
          <a:p>
            <a:r>
              <a:t>prompt di dominio. Funziona zero-shot, quindi descrive anche</a:t>
            </a:r>
          </a:p>
          <a:p>
            <a:r>
              <a:t>difetti che non ha mai visto. E ogni raccomandazione cita</a:t>
            </a:r>
          </a:p>
          <a:p>
            <a:r>
              <a:t>una fonte normativa."</a:t>
            </a:r>
          </a:p>
          <a:p>
            <a:endParaRPr/>
          </a:p>
          <a:p>
            <a:r>
              <a:t>Sulle sfide, affrontale tu per primo:</a:t>
            </a:r>
          </a:p>
          <a:p>
            <a:r>
              <a:t>"Un modello linguistico può allucinare. Per questo il sistema</a:t>
            </a:r>
          </a:p>
          <a:p>
            <a:r>
              <a:t>propone e l'ispettore valida: è un copilota, non un giudice.</a:t>
            </a:r>
          </a:p>
          <a:p>
            <a:r>
              <a:t>Quando la visibilità è scarsa il sistema lo dichiara e abbassa</a:t>
            </a:r>
          </a:p>
          <a:p>
            <a:r>
              <a:t>la confidenza. E la responsabilità tecnica resta all'ingegnere:</a:t>
            </a:r>
          </a:p>
          <a:p>
            <a:r>
              <a:t>noi prepariamo la decisione, non la prendiamo."</a:t>
            </a:r>
          </a:p>
          <a:p>
            <a:endParaRPr/>
          </a:p>
          <a:p>
            <a:r>
              <a:t>Dichiarare i limiti prima che te li chiedano vale molto.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[3:10-4:00] Chiusura. Guarda la giuria, non la slide.</a:t>
            </a:r>
          </a:p>
          <a:p>
            <a:endParaRPr/>
          </a:p>
          <a:p>
            <a:r>
              <a:t>"Oggi abbiamo un prototipo che funziona. Nel breve colleghiamo</a:t>
            </a:r>
          </a:p>
          <a:p>
            <a:r>
              <a:t>un VLM in produzione e indicizziamo normativa reale. Nel medio</a:t>
            </a:r>
          </a:p>
          <a:p>
            <a:r>
              <a:t>estendiamo ai dati 3D che i porti già producono, per quantificare</a:t>
            </a:r>
          </a:p>
          <a:p>
            <a:r>
              <a:t>il degrado in millimetri. La visione è portare l'analisi a bordo</a:t>
            </a:r>
          </a:p>
          <a:p>
            <a:r>
              <a:t>del ROV: sott'acqua la banda non c'è, quindi non trasmetti il</a:t>
            </a:r>
          </a:p>
          <a:p>
            <a:r>
              <a:t>video, trasmetti la comprensione."</a:t>
            </a:r>
          </a:p>
          <a:p>
            <a:endParaRPr/>
          </a:p>
          <a:p>
            <a:r>
              <a:t>Chiudi forte:</a:t>
            </a:r>
          </a:p>
          <a:p>
            <a:r>
              <a:t>"Il passo immediato è un pilota con un'Autorità Portuale ligure.</a:t>
            </a:r>
          </a:p>
          <a:p>
            <a:r>
              <a:t>È la base naturale per la Call for solution del progetto CIIRCLE."</a:t>
            </a:r>
          </a:p>
          <a:p>
            <a:endParaRPr/>
          </a:p>
          <a:p>
            <a:r>
              <a:t>Ultima frase, lenta:</a:t>
            </a:r>
          </a:p>
          <a:p>
            <a:r>
              <a:t>"Oggi ogni ispezione nasce e muore in un video. Noi le diamo</a:t>
            </a:r>
          </a:p>
          <a:p>
            <a:r>
              <a:t>memoria."</a:t>
            </a:r>
          </a:p>
          <a:p>
            <a:endParaRPr/>
          </a:p>
          <a:p>
            <a:r>
              <a:t>Poi silenzio. Aspetta le domande.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04-Oct-26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5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1512000"/>
            <a:ext cx="864000" cy="64800"/>
          </a:xfrm>
          <a:prstGeom prst="rect">
            <a:avLst/>
          </a:prstGeom>
          <a:solidFill>
            <a:srgbClr val="14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8000" y="1764000"/>
            <a:ext cx="10800000" cy="151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7200" b="1">
                <a:solidFill>
                  <a:srgbClr val="F2F6FA"/>
                </a:solidFill>
                <a:latin typeface="Segoe UI"/>
              </a:rPr>
              <a:t>MARIS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3348000"/>
            <a:ext cx="10800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600" b="0">
                <a:solidFill>
                  <a:srgbClr val="6DF0D2"/>
                </a:solidFill>
                <a:latin typeface="Segoe UI"/>
              </a:rPr>
              <a:t>Copilota AI per l'ispezione delle opere marittime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3960000"/>
            <a:ext cx="108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9B6C7"/>
                </a:solidFill>
                <a:latin typeface="Segoe UI"/>
              </a:rPr>
              <a:t>Da ore di video a referto tecnico, con memoria storica del degrado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8000" y="4536000"/>
            <a:ext cx="5184000" cy="1368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36000" y="4752000"/>
            <a:ext cx="43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4D3A8"/>
                </a:solidFill>
                <a:latin typeface="Segoe UI"/>
              </a:rPr>
              <a:t>TEAM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6000" y="5076000"/>
            <a:ext cx="4608000" cy="72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500" b="0" dirty="0">
                <a:solidFill>
                  <a:srgbClr val="A9B6C7"/>
                </a:solidFill>
                <a:latin typeface="Segoe UI"/>
              </a:rPr>
              <a:t>Lorenzo Torre · Alessandro Melillo · Gabriele Guo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36000" y="4536000"/>
            <a:ext cx="5184000" cy="1368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623999" y="4752000"/>
            <a:ext cx="43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4D3A8"/>
                </a:solidFill>
                <a:latin typeface="Segoe UI"/>
              </a:rPr>
              <a:t>SFIDA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3999" y="5076000"/>
            <a:ext cx="4608000" cy="594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 dirty="0" err="1">
                <a:solidFill>
                  <a:srgbClr val="A9B6C7"/>
                </a:solidFill>
                <a:latin typeface="Segoe UI"/>
              </a:rPr>
              <a:t>Robotica</a:t>
            </a:r>
            <a:r>
              <a:rPr sz="1400" b="0" dirty="0">
                <a:solidFill>
                  <a:srgbClr val="A9B6C7"/>
                </a:solidFill>
                <a:latin typeface="Segoe UI"/>
              </a:rPr>
              <a:t> </a:t>
            </a:r>
            <a:r>
              <a:rPr sz="1400" b="0" dirty="0" err="1">
                <a:solidFill>
                  <a:srgbClr val="A9B6C7"/>
                </a:solidFill>
                <a:latin typeface="Segoe UI"/>
              </a:rPr>
              <a:t>sottomarina</a:t>
            </a:r>
            <a:endParaRPr sz="1400" b="0" dirty="0">
              <a:solidFill>
                <a:srgbClr val="A9B6C7"/>
              </a:solidFill>
              <a:latin typeface="Segoe UI"/>
            </a:endParaRP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 dirty="0">
                <a:solidFill>
                  <a:srgbClr val="A9B6C7"/>
                </a:solidFill>
                <a:latin typeface="Segoe UI"/>
              </a:rPr>
              <a:t>Salone </a:t>
            </a:r>
            <a:r>
              <a:rPr sz="1400" b="0" dirty="0" err="1">
                <a:solidFill>
                  <a:srgbClr val="A9B6C7"/>
                </a:solidFill>
                <a:latin typeface="Segoe UI"/>
              </a:rPr>
              <a:t>Nautico</a:t>
            </a:r>
            <a:r>
              <a:rPr sz="1400" b="0" dirty="0">
                <a:solidFill>
                  <a:srgbClr val="A9B6C7"/>
                </a:solidFill>
                <a:latin typeface="Segoe UI"/>
              </a:rPr>
              <a:t> di Genova · 3-4 </a:t>
            </a:r>
            <a:r>
              <a:rPr sz="1400" b="0" dirty="0" err="1">
                <a:solidFill>
                  <a:srgbClr val="A9B6C7"/>
                </a:solidFill>
                <a:latin typeface="Segoe UI"/>
              </a:rPr>
              <a:t>ottobre</a:t>
            </a:r>
            <a:r>
              <a:rPr sz="1400" b="0" dirty="0">
                <a:solidFill>
                  <a:srgbClr val="A9B6C7"/>
                </a:solidFill>
                <a:latin typeface="Segoe UI"/>
              </a:rPr>
              <a:t>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6443999"/>
            <a:ext cx="86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7C8A9C"/>
                </a:solidFill>
                <a:latin typeface="Segoe UI"/>
              </a:rPr>
              <a:t>MARIS · Hackathon CIIRCLE · Sfida 2 Robotica sottomarina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40000" y="6443999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7C8A9C"/>
                </a:solidFill>
                <a:latin typeface="Segoe UI"/>
              </a:rPr>
              <a:t>1/6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5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576000"/>
            <a:ext cx="720000" cy="50400"/>
          </a:xfrm>
          <a:prstGeom prst="rect">
            <a:avLst/>
          </a:prstGeom>
          <a:solidFill>
            <a:srgbClr val="14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8000" y="792000"/>
            <a:ext cx="50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4D3A8"/>
                </a:solidFill>
                <a:latin typeface="Segoe UI"/>
              </a:rPr>
              <a:t>IL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080000"/>
            <a:ext cx="10800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1">
                <a:solidFill>
                  <a:srgbClr val="F2F6FA"/>
                </a:solidFill>
                <a:latin typeface="Segoe UI"/>
              </a:rPr>
              <a:t>Ogni ispezione nasce e muore in un video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2376000"/>
            <a:ext cx="6552000" cy="1044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48000" y="2376000"/>
            <a:ext cx="57600" cy="10440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7999" y="2556000"/>
            <a:ext cx="5976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F2F6FA"/>
                </a:solidFill>
                <a:latin typeface="Segoe UI"/>
              </a:rPr>
              <a:t>Ore di video riviste a mano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7999" y="2951999"/>
            <a:ext cx="5976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C8A9C"/>
                </a:solidFill>
                <a:latin typeface="Segoe UI"/>
              </a:rPr>
              <a:t>Un tecnico specializzato guarda tutto, fotogramma per fotogramma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8000" y="3563999"/>
            <a:ext cx="6552000" cy="1044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48000" y="3563999"/>
            <a:ext cx="57600" cy="10440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07999" y="3743999"/>
            <a:ext cx="5976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F2F6FA"/>
                </a:solidFill>
                <a:latin typeface="Segoe UI"/>
              </a:rPr>
              <a:t>Valutazione soggettiva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7999" y="4139999"/>
            <a:ext cx="5976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C8A9C"/>
                </a:solidFill>
                <a:latin typeface="Segoe UI"/>
              </a:rPr>
              <a:t>Lo stesso difetto cambia giudizio da operatore a operatore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8000" y="4752000"/>
            <a:ext cx="6552000" cy="1044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8000" y="4752000"/>
            <a:ext cx="57600" cy="10440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07999" y="4932000"/>
            <a:ext cx="5976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F2F6FA"/>
                </a:solidFill>
                <a:latin typeface="Segoe UI"/>
              </a:rPr>
              <a:t>Nessuna memoria storica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7999" y="5328000"/>
            <a:ext cx="5976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00" b="0">
                <a:solidFill>
                  <a:srgbClr val="7C8A9C"/>
                </a:solidFill>
                <a:latin typeface="Segoe UI"/>
              </a:rPr>
              <a:t>Non si sa se una lesione è peggiorata dall'ultima ispezione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03999" y="2376000"/>
            <a:ext cx="3816000" cy="3420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 w="15875">
            <a:solidFill>
              <a:srgbClr val="14D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92000" y="2592000"/>
            <a:ext cx="32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4D3A8"/>
                </a:solidFill>
                <a:latin typeface="Segoe UI"/>
              </a:rPr>
              <a:t>IN LIGURIA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92000" y="2951999"/>
            <a:ext cx="3240000" cy="316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1500" b="0">
                <a:solidFill>
                  <a:srgbClr val="F2F6FA"/>
                </a:solidFill>
                <a:latin typeface="Segoe UI"/>
              </a:rPr>
              <a:t>Porti di Genova, Savona-Vado, La Spezia</a:t>
            </a:r>
          </a:p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1400" b="0">
                <a:solidFill>
                  <a:srgbClr val="A9B6C7"/>
                </a:solidFill>
                <a:latin typeface="Segoe UI"/>
              </a:rPr>
              <a:t>Nuova diga foranea di Genova: monitoraggio per decenni</a:t>
            </a:r>
          </a:p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1400" b="0">
                <a:solidFill>
                  <a:srgbClr val="A9B6C7"/>
                </a:solidFill>
                <a:latin typeface="Segoe UI"/>
              </a:rPr>
              <a:t>Mareggiata 2018: opere costiere devastate</a:t>
            </a:r>
          </a:p>
          <a:p>
            <a:pPr algn="l">
              <a:lnSpc>
                <a:spcPct val="135000"/>
              </a:lnSpc>
              <a:spcAft>
                <a:spcPts val="1600"/>
              </a:spcAft>
            </a:pPr>
            <a:r>
              <a:rPr sz="1400" b="0">
                <a:solidFill>
                  <a:srgbClr val="FBBF24"/>
                </a:solidFill>
                <a:latin typeface="Segoe UI"/>
              </a:rPr>
              <a:t>Manutenzione reattiva, non predittiva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8000" y="6443999"/>
            <a:ext cx="86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7C8A9C"/>
                </a:solidFill>
                <a:latin typeface="Segoe UI"/>
              </a:rPr>
              <a:t>MARIS · Hackathon CIIRCLE · Sfida 2 Robotica sottomarina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440000" y="6443999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7C8A9C"/>
                </a:solidFill>
                <a:latin typeface="Segoe UI"/>
              </a:rPr>
              <a:t>2/6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5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576000"/>
            <a:ext cx="720000" cy="50400"/>
          </a:xfrm>
          <a:prstGeom prst="rect">
            <a:avLst/>
          </a:prstGeom>
          <a:solidFill>
            <a:srgbClr val="14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8000" y="792000"/>
            <a:ext cx="50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4D3A8"/>
                </a:solidFill>
                <a:latin typeface="Segoe UI"/>
              </a:rPr>
              <a:t>COME FUNZIONA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080000"/>
            <a:ext cx="10800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1">
                <a:solidFill>
                  <a:srgbClr val="F2F6FA"/>
                </a:solidFill>
                <a:latin typeface="Segoe UI"/>
              </a:rPr>
              <a:t>Un motore, quattro asset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8000" y="1980000"/>
            <a:ext cx="10800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0">
                <a:solidFill>
                  <a:srgbClr val="A9B6C7"/>
                </a:solidFill>
                <a:latin typeface="Segoe UI"/>
              </a:rPr>
              <a:t>L'operatore sceglie il caso d'uso: cambiano prompt di dominio e base normativa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8000" y="2592000"/>
            <a:ext cx="2015999" cy="1872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00000" y="2808000"/>
            <a:ext cx="432000" cy="432000"/>
          </a:xfrm>
          <a:prstGeom prst="ellipse">
            <a:avLst/>
          </a:prstGeom>
          <a:solidFill>
            <a:srgbClr val="14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5080F"/>
                </a:solidFill>
                <a:latin typeface="Segoe U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3384000"/>
            <a:ext cx="1584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F2F6FA"/>
                </a:solidFill>
                <a:latin typeface="Segoe UI"/>
              </a:rPr>
              <a:t>Caso d'uso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000" y="3888000"/>
            <a:ext cx="1584000" cy="64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7C8A9C"/>
                </a:solidFill>
                <a:latin typeface="Segoe UI"/>
              </a:rPr>
              <a:t>Carica prompt
e normativa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26000" y="2592000"/>
            <a:ext cx="2015999" cy="1872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077999" y="2808000"/>
            <a:ext cx="432000" cy="432000"/>
          </a:xfrm>
          <a:prstGeom prst="ellipse">
            <a:avLst/>
          </a:prstGeom>
          <a:solidFill>
            <a:srgbClr val="14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5080F"/>
                </a:solidFill>
                <a:latin typeface="Segoe U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77999" y="3384000"/>
            <a:ext cx="1584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F2F6FA"/>
                </a:solidFill>
                <a:latin typeface="Segoe UI"/>
              </a:rPr>
              <a:t>Sito e storico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7999" y="3888000"/>
            <a:ext cx="1584000" cy="64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7C8A9C"/>
                </a:solidFill>
                <a:latin typeface="Segoe UI"/>
              </a:rPr>
              <a:t>Sceglie la baseline
di confronto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3999" y="2592000"/>
            <a:ext cx="2015999" cy="1872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255999" y="2808000"/>
            <a:ext cx="432000" cy="432000"/>
          </a:xfrm>
          <a:prstGeom prst="ellipse">
            <a:avLst/>
          </a:prstGeom>
          <a:solidFill>
            <a:srgbClr val="14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5080F"/>
                </a:solidFill>
                <a:latin typeface="Segoe U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5999" y="3384000"/>
            <a:ext cx="1584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F2F6FA"/>
                </a:solidFill>
                <a:latin typeface="Segoe UI"/>
              </a:rPr>
              <a:t>Telemetria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5999" y="3888000"/>
            <a:ext cx="1584000" cy="64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7C8A9C"/>
                </a:solidFill>
                <a:latin typeface="Segoe UI"/>
              </a:rPr>
              <a:t>Quota, temperatura,
torbidità dal log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82000" y="2592000"/>
            <a:ext cx="2015999" cy="1872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7433999" y="2808000"/>
            <a:ext cx="432000" cy="432000"/>
          </a:xfrm>
          <a:prstGeom prst="ellipse">
            <a:avLst/>
          </a:prstGeom>
          <a:solidFill>
            <a:srgbClr val="14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5080F"/>
                </a:solidFill>
                <a:latin typeface="Segoe U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33999" y="3384000"/>
            <a:ext cx="1584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F2F6FA"/>
                </a:solidFill>
                <a:latin typeface="Segoe UI"/>
              </a:rPr>
              <a:t>Analisi VLM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33999" y="3888000"/>
            <a:ext cx="1584000" cy="64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7C8A9C"/>
                </a:solidFill>
                <a:latin typeface="Segoe UI"/>
              </a:rPr>
              <a:t>Osservazione,
diagnosi, azione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360000" y="2592000"/>
            <a:ext cx="2015999" cy="1872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612000" y="2808000"/>
            <a:ext cx="432000" cy="432000"/>
          </a:xfrm>
          <a:prstGeom prst="ellipse">
            <a:avLst/>
          </a:prstGeom>
          <a:solidFill>
            <a:srgbClr val="14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5080F"/>
                </a:solidFill>
                <a:latin typeface="Segoe U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12000" y="3384000"/>
            <a:ext cx="1584000" cy="36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1">
                <a:solidFill>
                  <a:srgbClr val="F2F6FA"/>
                </a:solidFill>
                <a:latin typeface="Segoe UI"/>
              </a:rPr>
              <a:t>Referto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12000" y="3888000"/>
            <a:ext cx="1584000" cy="64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50" b="0">
                <a:solidFill>
                  <a:srgbClr val="7C8A9C"/>
                </a:solidFill>
                <a:latin typeface="Segoe UI"/>
              </a:rPr>
              <a:t>Severità, scadenza,
fonte citata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8000" y="4752000"/>
            <a:ext cx="5256000" cy="1224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 w="15875">
            <a:solidFill>
              <a:srgbClr val="14D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36000" y="4968000"/>
            <a:ext cx="43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4D3A8"/>
                </a:solidFill>
                <a:latin typeface="Segoe UI"/>
              </a:rPr>
              <a:t>IL DIFFERENZIATORE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000" y="5292000"/>
            <a:ext cx="4680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6DF0D2"/>
                </a:solidFill>
                <a:latin typeface="Segoe UI"/>
              </a:rPr>
              <a:t>Ogni raccomandazione è ancorata a una fonte normativa, non inventata dal modello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36000" y="4752000"/>
            <a:ext cx="5184000" cy="1224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623999" y="4968000"/>
            <a:ext cx="43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4D3A8"/>
                </a:solidFill>
                <a:latin typeface="Segoe UI"/>
              </a:rPr>
              <a:t>ASSET COPERTI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3999" y="5292000"/>
            <a:ext cx="4608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500" b="0">
                <a:solidFill>
                  <a:srgbClr val="A9B6C7"/>
                </a:solidFill>
                <a:latin typeface="Segoe UI"/>
              </a:rPr>
              <a:t>Banchine · Dighe frangiflutti · Cavi e condotte · Scafi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8000" y="6443999"/>
            <a:ext cx="86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7C8A9C"/>
                </a:solidFill>
                <a:latin typeface="Segoe UI"/>
              </a:rPr>
              <a:t>MARIS · Hackathon CIIRCLE · Sfida 2 Robotica sottomarina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40000" y="6443999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7C8A9C"/>
                </a:solidFill>
                <a:latin typeface="Segoe UI"/>
              </a:rPr>
              <a:t>3/6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5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576000"/>
            <a:ext cx="720000" cy="50400"/>
          </a:xfrm>
          <a:prstGeom prst="rect">
            <a:avLst/>
          </a:prstGeom>
          <a:solidFill>
            <a:srgbClr val="14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8000" y="792000"/>
            <a:ext cx="50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4D3A8"/>
                </a:solidFill>
                <a:latin typeface="Segoe UI"/>
              </a:rPr>
              <a:t>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080000"/>
            <a:ext cx="10800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1">
                <a:solidFill>
                  <a:srgbClr val="F2F6FA"/>
                </a:solidFill>
                <a:latin typeface="Segoe UI"/>
              </a:rPr>
              <a:t>Ispezione di un cavo sottomarino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2304000"/>
            <a:ext cx="6912000" cy="3600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 w="15875">
            <a:solidFill>
              <a:srgbClr val="14D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6000" y="2592000"/>
            <a:ext cx="6336000" cy="39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1900" b="1">
                <a:solidFill>
                  <a:srgbClr val="14D3A8"/>
                </a:solidFill>
                <a:latin typeface="Segoe UI"/>
              </a:rPr>
              <a:t>[ VIDEO DELLA DEMO · 60-75 s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3168000"/>
            <a:ext cx="6336000" cy="273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400" b="0">
                <a:solidFill>
                  <a:srgbClr val="A9B6C7"/>
                </a:solidFill>
                <a:latin typeface="Segoe UI"/>
              </a:rPr>
              <a:t>Inserisci qui il video registrato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300" b="0">
                <a:solidFill>
                  <a:srgbClr val="7C8A9C"/>
                </a:solidFill>
                <a:latin typeface="Segoe UI"/>
              </a:rPr>
              <a:t>Percorso: caso d'uso, sito e baseline, video, referto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350" b="1">
                <a:solidFill>
                  <a:srgbClr val="F2F6FA"/>
                </a:solidFill>
                <a:latin typeface="Segoe UI"/>
              </a:rPr>
              <a:t>Da mostrare in sequenza: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300" b="0">
                <a:solidFill>
                  <a:srgbClr val="A9B6C7"/>
                </a:solidFill>
                <a:latin typeface="Segoe UI"/>
              </a:rPr>
              <a:t>Il prompt che cambia tra banchine e cavi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300" b="0">
                <a:solidFill>
                  <a:srgbClr val="A9B6C7"/>
                </a:solidFill>
                <a:latin typeface="Segoe UI"/>
              </a:rPr>
              <a:t>Telemetria sincronizzata: quota, temperatura, torbidità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300" b="0">
                <a:solidFill>
                  <a:srgbClr val="A9B6C7"/>
                </a:solidFill>
                <a:latin typeface="Segoe UI"/>
              </a:rPr>
              <a:t>Anomalie che compaiono man mano, non tutte alla fine</a:t>
            </a:r>
          </a:p>
          <a:p>
            <a:pPr algn="l">
              <a:lnSpc>
                <a:spcPct val="130000"/>
              </a:lnSpc>
              <a:spcAft>
                <a:spcPts val="1100"/>
              </a:spcAft>
            </a:pPr>
            <a:r>
              <a:rPr sz="1300" b="0">
                <a:solidFill>
                  <a:srgbClr val="A9B6C7"/>
                </a:solidFill>
                <a:latin typeface="Segoe UI"/>
              </a:rPr>
              <a:t>Click sull'anomalia: il video torna sul fotogramma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63999" y="2304000"/>
            <a:ext cx="3456000" cy="1728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 w="15875">
            <a:solidFill>
              <a:srgbClr val="FB92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52000" y="2520000"/>
            <a:ext cx="288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4D3A8"/>
                </a:solidFill>
                <a:latin typeface="Segoe UI"/>
              </a:rPr>
              <a:t>MOMENTO CHIAVE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2000" y="2880000"/>
            <a:ext cx="2880000" cy="12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0">
                <a:solidFill>
                  <a:srgbClr val="A9B6C7"/>
                </a:solidFill>
                <a:latin typeface="Segoe UI"/>
              </a:rPr>
              <a:t>Confronto con l'ispezione precedente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1">
                <a:solidFill>
                  <a:srgbClr val="FB923C"/>
                </a:solidFill>
                <a:latin typeface="Segoe UI"/>
              </a:rPr>
              <a:t>+6 m di cavo scoperto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3999" y="4176000"/>
            <a:ext cx="3456000" cy="1728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52000" y="4392000"/>
            <a:ext cx="288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4D3A8"/>
                </a:solidFill>
                <a:latin typeface="Segoe UI"/>
              </a:rPr>
              <a:t>ANALISI REALE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52000" y="4752000"/>
            <a:ext cx="2880000" cy="1007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A9B6C7"/>
                </a:solidFill>
                <a:latin typeface="Segoe UI"/>
              </a:rPr>
              <a:t>Il video dei cavi è stato analizzato con un VLM usando il nostro prompt di dominio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000" y="6443999"/>
            <a:ext cx="86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7C8A9C"/>
                </a:solidFill>
                <a:latin typeface="Segoe UI"/>
              </a:rPr>
              <a:t>MARIS · Hackathon CIIRCLE · Sfida 2 Robotica sottomarina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40000" y="6443999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7C8A9C"/>
                </a:solidFill>
                <a:latin typeface="Segoe UI"/>
              </a:rPr>
              <a:t>4/6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5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576000"/>
            <a:ext cx="720000" cy="50400"/>
          </a:xfrm>
          <a:prstGeom prst="rect">
            <a:avLst/>
          </a:prstGeom>
          <a:solidFill>
            <a:srgbClr val="14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8000" y="792000"/>
            <a:ext cx="50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4D3A8"/>
                </a:solidFill>
                <a:latin typeface="Segoe UI"/>
              </a:rPr>
              <a:t>PUNTI DI FORZA E LIMITI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080000"/>
            <a:ext cx="10800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1">
                <a:solidFill>
                  <a:srgbClr val="F2F6FA"/>
                </a:solidFill>
                <a:latin typeface="Segoe UI"/>
              </a:rPr>
              <a:t>Cosa funziona, cosa resta aperto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2304000"/>
            <a:ext cx="5256000" cy="3600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 w="15875">
            <a:solidFill>
              <a:srgbClr val="14D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6000" y="2520000"/>
            <a:ext cx="43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4D3A8"/>
                </a:solidFill>
                <a:latin typeface="Segoe UI"/>
              </a:rPr>
              <a:t>PUNTI DI FORZA</a:t>
            </a:r>
          </a:p>
        </p:txBody>
      </p:sp>
      <p:sp>
        <p:nvSpPr>
          <p:cNvPr id="8" name="Rectangle 7"/>
          <p:cNvSpPr/>
          <p:nvPr/>
        </p:nvSpPr>
        <p:spPr>
          <a:xfrm>
            <a:off x="936000" y="3031200"/>
            <a:ext cx="93600" cy="93600"/>
          </a:xfrm>
          <a:prstGeom prst="rect">
            <a:avLst/>
          </a:prstGeom>
          <a:solidFill>
            <a:srgbClr val="14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224000" y="2916000"/>
            <a:ext cx="4392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F2F6FA"/>
                </a:solidFill>
                <a:latin typeface="Segoe UI"/>
              </a:rPr>
              <a:t>Nessun addestramento: si compone, non si allena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6000" y="3625200"/>
            <a:ext cx="93600" cy="93600"/>
          </a:xfrm>
          <a:prstGeom prst="rect">
            <a:avLst/>
          </a:prstGeom>
          <a:solidFill>
            <a:srgbClr val="14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224000" y="3510000"/>
            <a:ext cx="4392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F2F6FA"/>
                </a:solidFill>
                <a:latin typeface="Segoe UI"/>
              </a:rPr>
              <a:t>Zero-shot: descrive anche difetti mai visti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6000" y="4219200"/>
            <a:ext cx="93600" cy="93600"/>
          </a:xfrm>
          <a:prstGeom prst="rect">
            <a:avLst/>
          </a:prstGeom>
          <a:solidFill>
            <a:srgbClr val="14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224000" y="4104000"/>
            <a:ext cx="4392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F2F6FA"/>
                </a:solidFill>
                <a:latin typeface="Segoe UI"/>
              </a:rPr>
              <a:t>Raccomandazioni ancorate a normativa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6000" y="4813200"/>
            <a:ext cx="93600" cy="93600"/>
          </a:xfrm>
          <a:prstGeom prst="rect">
            <a:avLst/>
          </a:prstGeom>
          <a:solidFill>
            <a:srgbClr val="14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224000" y="4698000"/>
            <a:ext cx="4392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F2F6FA"/>
                </a:solidFill>
                <a:latin typeface="Segoe UI"/>
              </a:rPr>
              <a:t>Memoria storica: il degrado nel tempo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6000" y="5407200"/>
            <a:ext cx="93600" cy="93600"/>
          </a:xfrm>
          <a:prstGeom prst="rect">
            <a:avLst/>
          </a:prstGeom>
          <a:solidFill>
            <a:srgbClr val="14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24000" y="5292000"/>
            <a:ext cx="4392000" cy="503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500" b="0">
                <a:solidFill>
                  <a:srgbClr val="F2F6FA"/>
                </a:solidFill>
                <a:latin typeface="Segoe UI"/>
              </a:rPr>
              <a:t>Un motore, quattro asset: scalabile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999" y="2304000"/>
            <a:ext cx="5256000" cy="3600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 w="15875">
            <a:solidFill>
              <a:srgbClr val="FBBF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52000" y="2520000"/>
            <a:ext cx="43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4D3A8"/>
                </a:solidFill>
                <a:latin typeface="Segoe UI"/>
              </a:rPr>
              <a:t>SFIDE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2000" y="2916000"/>
            <a:ext cx="468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1">
                <a:solidFill>
                  <a:srgbClr val="FBBF24"/>
                </a:solidFill>
                <a:latin typeface="Segoe UI"/>
              </a:rPr>
              <a:t>Allucinazioni del modello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52000" y="3294000"/>
            <a:ext cx="4680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9B6C7"/>
                </a:solidFill>
                <a:latin typeface="Segoe UI"/>
              </a:rPr>
              <a:t>Copilota, non giudice: l'ispettore valida sempre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2000" y="3906000"/>
            <a:ext cx="468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1">
                <a:solidFill>
                  <a:srgbClr val="FBBF24"/>
                </a:solidFill>
                <a:latin typeface="Segoe UI"/>
              </a:rPr>
              <a:t>Visibilità variabile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2000" y="4284000"/>
            <a:ext cx="4680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9B6C7"/>
                </a:solidFill>
                <a:latin typeface="Segoe UI"/>
              </a:rPr>
              <a:t>Il sistema dichiara la confidenza e quando è bassa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2000" y="4896000"/>
            <a:ext cx="4680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600" b="1">
                <a:solidFill>
                  <a:srgbClr val="FBBF24"/>
                </a:solidFill>
                <a:latin typeface="Segoe UI"/>
              </a:rPr>
              <a:t>Responsabilità tecnica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52000" y="5274000"/>
            <a:ext cx="4680000" cy="57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50" b="0">
                <a:solidFill>
                  <a:srgbClr val="A9B6C7"/>
                </a:solidFill>
                <a:latin typeface="Segoe UI"/>
              </a:rPr>
              <a:t>Prepariamo la decisione, la firma resta all'ingegnere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000" y="6443999"/>
            <a:ext cx="86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7C8A9C"/>
                </a:solidFill>
                <a:latin typeface="Segoe UI"/>
              </a:rPr>
              <a:t>MARIS · Hackathon CIIRCLE · Sfida 2 Robotica sottomarina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40000" y="6443999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7C8A9C"/>
                </a:solidFill>
                <a:latin typeface="Segoe UI"/>
              </a:rPr>
              <a:t>5/6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rgbClr val="0508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48000" y="576000"/>
            <a:ext cx="720000" cy="50400"/>
          </a:xfrm>
          <a:prstGeom prst="rect">
            <a:avLst/>
          </a:prstGeom>
          <a:solidFill>
            <a:srgbClr val="14D3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8000" y="792000"/>
            <a:ext cx="504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4D3A8"/>
                </a:solidFill>
                <a:latin typeface="Segoe UI"/>
              </a:rPr>
              <a:t>PROSSIMI PASSI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8000" y="1080000"/>
            <a:ext cx="10800000" cy="79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3800" b="1">
                <a:solidFill>
                  <a:srgbClr val="F2F6FA"/>
                </a:solidFill>
                <a:latin typeface="Segoe UI"/>
              </a:rPr>
              <a:t>Dove può arrivare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8000" y="2448000"/>
            <a:ext cx="2592000" cy="1944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 w="15875">
            <a:solidFill>
              <a:srgbClr val="14D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36000" y="2700000"/>
            <a:ext cx="2088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14D3A8"/>
                </a:solidFill>
                <a:latin typeface="Segoe UI"/>
              </a:rPr>
              <a:t>OGGI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6000" y="3168000"/>
            <a:ext cx="2088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F2F6FA"/>
                </a:solidFill>
                <a:latin typeface="Segoe UI"/>
              </a:rPr>
              <a:t>Prototipo funzionante
Referto da video e storico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4000" y="2448000"/>
            <a:ext cx="2592000" cy="1944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72000" y="2700000"/>
            <a:ext cx="2088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6DF0D2"/>
                </a:solidFill>
                <a:latin typeface="Segoe UI"/>
              </a:rPr>
              <a:t>BREVE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2000" y="3168000"/>
            <a:ext cx="2088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A9B6C7"/>
                </a:solidFill>
                <a:latin typeface="Segoe UI"/>
              </a:rPr>
              <a:t>VLM in produzione
Normativa reale indicizzata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0000" y="2448000"/>
            <a:ext cx="2592000" cy="1944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8000" y="2700000"/>
            <a:ext cx="2088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A9B6C7"/>
                </a:solidFill>
                <a:latin typeface="Segoe UI"/>
              </a:rPr>
              <a:t>MEDIO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8000" y="3168000"/>
            <a:ext cx="2088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A9B6C7"/>
                </a:solidFill>
                <a:latin typeface="Segoe UI"/>
              </a:rPr>
              <a:t>Dati 3D esistenti
Degrado in millimetri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56000" y="2448000"/>
            <a:ext cx="2592000" cy="1944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0" y="2700000"/>
            <a:ext cx="2088000" cy="32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1">
                <a:solidFill>
                  <a:srgbClr val="7C8A9C"/>
                </a:solidFill>
                <a:latin typeface="Segoe UI"/>
              </a:rPr>
              <a:t>VISIONE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0" y="3168000"/>
            <a:ext cx="2088000" cy="108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400" b="0">
                <a:solidFill>
                  <a:srgbClr val="A9B6C7"/>
                </a:solidFill>
                <a:latin typeface="Segoe UI"/>
              </a:rPr>
              <a:t>Analisi a bordo del ROV
Monitoraggio continuo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8000" y="4680000"/>
            <a:ext cx="5256000" cy="1296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36000" y="4896000"/>
            <a:ext cx="43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4D3A8"/>
                </a:solidFill>
                <a:latin typeface="Segoe UI"/>
              </a:rPr>
              <a:t>ALTRE APPLICAZIONI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6000" y="5256000"/>
            <a:ext cx="4680000" cy="64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A9B6C7"/>
                </a:solidFill>
                <a:latin typeface="Segoe UI"/>
              </a:rPr>
              <a:t>Scafi e refit · Impianti offshore · Acquacoltura · Monitoraggio ambientale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63999" y="4680000"/>
            <a:ext cx="5256000" cy="1296000"/>
          </a:xfrm>
          <a:prstGeom prst="roundRect">
            <a:avLst>
              <a:gd name="adj" fmla="val 5000"/>
            </a:avLst>
          </a:prstGeom>
          <a:solidFill>
            <a:srgbClr val="0E1729"/>
          </a:solidFill>
          <a:ln w="15875">
            <a:solidFill>
              <a:srgbClr val="14D3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552000" y="4896000"/>
            <a:ext cx="4320000" cy="251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200" b="1">
                <a:solidFill>
                  <a:srgbClr val="14D3A8"/>
                </a:solidFill>
                <a:latin typeface="Segoe UI"/>
              </a:rPr>
              <a:t>IL PASSO SUCCESSIVO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2000" y="5256000"/>
            <a:ext cx="4680000" cy="648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500" b="0">
                <a:solidFill>
                  <a:srgbClr val="6DF0D2"/>
                </a:solidFill>
                <a:latin typeface="Segoe UI"/>
              </a:rPr>
              <a:t>Pilota con un'Autorità di Sistema Portuale ligure, verso la Call for solution CIIRCLE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8000" y="6443999"/>
            <a:ext cx="864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7C8A9C"/>
                </a:solidFill>
                <a:latin typeface="Segoe UI"/>
              </a:rPr>
              <a:t>MARIS · Hackathon CIIRCLE · Sfida 2 Robotica sottomarina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40000" y="6443999"/>
            <a:ext cx="1080000" cy="21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30000"/>
              </a:lnSpc>
              <a:spcAft>
                <a:spcPts val="0"/>
              </a:spcAft>
            </a:pPr>
            <a:r>
              <a:rPr sz="1100" b="0">
                <a:solidFill>
                  <a:srgbClr val="7C8A9C"/>
                </a:solidFill>
                <a:latin typeface="Segoe UI"/>
              </a:rPr>
              <a:t>6/6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1185</Words>
  <Application>Microsoft Office PowerPoint</Application>
  <PresentationFormat>Custom</PresentationFormat>
  <Paragraphs>182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Gabriele Guo</cp:lastModifiedBy>
  <cp:revision>2</cp:revision>
  <dcterms:created xsi:type="dcterms:W3CDTF">2013-01-27T09:14:16Z</dcterms:created>
  <dcterms:modified xsi:type="dcterms:W3CDTF">2026-10-03T23:45:25Z</dcterms:modified>
  <cp:category/>
</cp:coreProperties>
</file>